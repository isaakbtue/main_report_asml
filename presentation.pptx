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Active Vibration Control of an ASML Measurement 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BFD4ED"/>
                </a:solidFill>
              </a:rPr>
              <a:t>Phase I: Positive Position Feedback with Dual Piezo Patches
Phase II: Direct Velocity Feedback with MEMS Accelerometer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9DC3E6"/>
                </a:solidFill>
              </a:rPr>
              <a:t>Isaak Bouwmeester | ASML Internship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Floor vibrations at the plate's first bending mode degrade wafer positioning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900">
                <a:solidFill>
                  <a:srgbClr val="262626"/>
                </a:solidFill>
              </a:rPr>
              <a:t>ASML measurement plate: ~1000x1000 mm aluminium, ~100 mm thick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First bending mode at ~160 Hz (COMSOL); resonance amplifies floor vibrations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Positioning errors at wafer reduce lithography resolution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Goal: suppress the dominant bending mode using active vibration control (AVC)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Approach: piezoelectric patch actuator in closed-loop feedback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280160"/>
            <a:ext cx="5303520" cy="137160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371600"/>
            <a:ext cx="50840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Two phases:
  Phase I  - PPF with dual DuraAct patches (Patch 2 actuator + Patch 3 sensor)
  Phase II - DVF with Patch 2 actuator + MEMS accelerometer (IMU)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926080"/>
            <a:ext cx="5303520" cy="2834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F4E79"/>
                </a:solidFill>
              </a:rPr>
              <a:t>Physical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37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500">
                <a:solidFill>
                  <a:srgbClr val="262626"/>
                </a:solidFill>
              </a:rPr>
              <a:t>Plate:    Al, 1x1 m, 100 mm thick, STL import in COMSOL</a:t>
            </a:r>
          </a:p>
          <a:p>
            <a:pPr/>
            <a:r>
              <a:rPr b="0" i="0" sz="1500">
                <a:solidFill>
                  <a:srgbClr val="262626"/>
                </a:solidFill>
              </a:rPr>
              <a:t>Actuator: PI Ceramic P-876.A12 DuraAct (d31 mode)</a:t>
            </a:r>
          </a:p>
          <a:p>
            <a:pPr/>
            <a:r>
              <a:rPr b="0" i="0" sz="1500">
                <a:solidFill>
                  <a:srgbClr val="262626"/>
                </a:solidFill>
              </a:rPr>
              <a:t>          3-layer: polymer / PIC255 ceramic / polymer</a:t>
            </a:r>
          </a:p>
          <a:p>
            <a:pPr/>
            <a:r>
              <a:rPr b="0" i="0" sz="1500">
                <a:solidFill>
                  <a:srgbClr val="262626"/>
                </a:solidFill>
              </a:rPr>
              <a:t>Mounting: Domain Spring Foundation, f_mount ~ 1.7 Hz</a:t>
            </a:r>
          </a:p>
          <a:p>
            <a:pPr/>
            <a:r>
              <a:rPr b="0" i="0" sz="1500">
                <a:solidFill>
                  <a:srgbClr val="262626"/>
                </a:solidFill>
              </a:rPr>
              <a:t>BC:       elastic isolation (NOT fixed constraint)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The plate has four flexible bending modes between 87 and 226 Hz; mode 3 at 161 Hz is the DVF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COMSOL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3/18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521440" cy="4937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Mode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12344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Freq. (Hz)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2344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1234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DVF phase at peak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36776"/>
            <a:ext cx="11521440" cy="493776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72821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Spring rigid-body (x6)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172821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1.66-1.68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17282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Translation + rotation on foam 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17282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30552"/>
            <a:ext cx="11521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2219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Flexible mode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22219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86.51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22199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First bending (actuator placed here)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221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+51 to +140 deg - distorted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24328"/>
            <a:ext cx="11521440" cy="493776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27157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Flexible mode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9544" y="2715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127.78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27157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Second bending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2715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~-90 deg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118104"/>
            <a:ext cx="11521440" cy="493776"/>
          </a:xfrm>
          <a:prstGeom prst="rect">
            <a:avLst/>
          </a:prstGeom>
          <a:solidFill>
            <a:srgbClr val="FFF2CC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32095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7F3D00"/>
                </a:solidFill>
              </a:rPr>
              <a:t>Flexible mode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320954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7F3D00"/>
                </a:solidFill>
              </a:rPr>
              <a:t>160.90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2095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7F3D00"/>
                </a:solidFill>
              </a:rPr>
              <a:t>Third bending - DVF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32095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7F3D00"/>
                </a:solidFill>
              </a:rPr>
              <a:t>-90 deg - clean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11880"/>
            <a:ext cx="11521440" cy="493776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37033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Flexible mode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544" y="37033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225.56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37033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Fourth bending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37033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62626"/>
                </a:solidFill>
              </a:rPr>
              <a:t>~-90 deg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26280"/>
            <a:ext cx="11185855" cy="114300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617720"/>
            <a:ext cx="1096639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Key: Mode 3 at 161 Hz shows a clean -90 deg phase at the |H22| peak. Mode 1 at 87 Hz has feedthrough-distorted phase (+51 to +140 deg) -- simple DVF cannot reliably suppress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The DuraAct P-876.A12 patch uses d31 bending; three COMSOL material overrides are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Actuator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900">
                <a:solidFill>
                  <a:srgbClr val="262626"/>
                </a:solidFill>
              </a:rPr>
              <a:t>DuraAct layer stack (d31 bending mode, no rotation needed):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Bottom polymer:  61x35 mm, 0.15 mm thick  (E = 5 GPa)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PIC255 ceramic:  50x30 mm, 0.20 mm thick  (active layer)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Top polymer:     61x35 mm, 0.15 mm thick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Electric field applied through ceramic thickness (z-axis = poling direction)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Va = 1 V on top PIC255 face, Ground on bottom PIC255 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754880"/>
            <a:ext cx="5760720" cy="164592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846320"/>
            <a:ext cx="554126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CRITICAL: COMSOL PIC255 defaults are wrong. Always override:
  d31 = d32 = -260 pm/V  (COMSOL default: -18.5e-11 C/N)
  epsR_T33  = 1355        (COMSOL default: 1832)
  Ceramic thickness = 0.20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280160"/>
            <a:ext cx="502920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F4E79"/>
                </a:solidFill>
              </a:rPr>
              <a:t>Patch cross-section (not to scale)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737360"/>
            <a:ext cx="4572000" cy="50292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4389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Top polymer   0.15 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240280"/>
            <a:ext cx="4572000" cy="594360"/>
          </a:xfrm>
          <a:prstGeom prst="rect">
            <a:avLst/>
          </a:prstGeom>
          <a:solidFill>
            <a:srgbClr val="F4B183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331720"/>
            <a:ext cx="4389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PIC255 ceramic  0.20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834640"/>
            <a:ext cx="4572000" cy="50292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926080"/>
            <a:ext cx="4389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Bottom polymer 0.15 mm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337560"/>
            <a:ext cx="4572000" cy="1371600"/>
          </a:xfrm>
          <a:prstGeom prst="rect">
            <a:avLst/>
          </a:prstGeom>
          <a:solidFill>
            <a:srgbClr val="D9D9D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429000"/>
            <a:ext cx="4389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Plate (Al)  100 mm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000">
                <a:solidFill>
                  <a:srgbClr val="FFFFFF"/>
                </a:solidFill>
              </a:rPr>
              <a:t>Part I
Positive Position Feedback
with Dual Piezo Patches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Phase I bonds a second DuraAct patch as an open-circuit voltage sensor for PPF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Phase I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6/18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900">
                <a:solidFill>
                  <a:srgbClr val="262626"/>
                </a:solidFill>
              </a:rPr>
              <a:t>Patch 3 (sensor): identical DuraAct layup, offset 65 mm in x from Patch 2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Open-circuit condition: Floating Potential on both ceramic faces (top + bottom)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  Do NOT add Ground to either face -- that fixes V = 0 and corrupts Vs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Sensor output: Vs = open-circuit piezo voltage  [V/V]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COMSOL model: 7 domains (plate + 3 Patch-2 layers + 3 Patch-3 layers)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Boundary condition: Fixed Constraint on 4 bottom perimeter edge lines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  Geometric entity level must be set to Edge, not 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280160"/>
            <a:ext cx="521208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F4E79"/>
                </a:solidFill>
              </a:rPr>
              <a:t>COMSOL domain layout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737360"/>
            <a:ext cx="4480560" cy="2103120"/>
          </a:xfrm>
          <a:prstGeom prst="rect">
            <a:avLst/>
          </a:prstGeom>
          <a:solidFill>
            <a:srgbClr val="D9D9D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801368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Plate (aluminium)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931920"/>
            <a:ext cx="4480560" cy="41148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9959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2 - top polymer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389120"/>
            <a:ext cx="4480560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4531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2 - PIC255 ceramic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892040"/>
            <a:ext cx="4480560" cy="41148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4956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2 - bottom polymer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5349240"/>
            <a:ext cx="4480560" cy="41148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5413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3 - top polymer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806440"/>
            <a:ext cx="4480560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58704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3 - PIC255 ceramic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6309360"/>
            <a:ext cx="4480560" cy="411480"/>
          </a:xfrm>
          <a:prstGeom prst="rect">
            <a:avLst/>
          </a:prstGeom>
          <a:solidFill>
            <a:srgbClr val="C0D4E9"/>
          </a:solidFill>
          <a:ln w="63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63733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Patch 3 - bottom polymer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PPF is unconditionally stable because the collocated piezo phase is always within (-90 deg, +90 deg)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PPF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7/18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800">
                <a:solidFill>
                  <a:srgbClr val="262626"/>
                </a:solidFill>
              </a:rPr>
              <a:t>Plant:   H22(s) = H0 * wn^2 / (s^2 + 2*zeta*wn*s + wn^2)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Phase of H22 at resonance: -90 deg  (collocated piezo pair)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PPF controller (Baken 2025):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  K_PPF(s) = (1/H0) * g * wf^2 / (s^2 + 2*zf*wf*s + wf^2)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  wf = wn,  g = 0.3,  zf = 0.3  (Baken values)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Phase accumulation at resonance: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  H22: displacement to Vs = -90 deg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  K_PPF filter: Vs to Va  = -90 deg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  Total: -180 deg from displacement = opposing velocity = DAMPING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1F4E79"/>
                </a:solidFill>
              </a:rPr>
              <a:t>PPF block diagram: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196596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20116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262626"/>
                </a:solidFill>
              </a:rPr>
              <a:t>+
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7568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d_dis 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0756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920240"/>
            <a:ext cx="1371600" cy="594360"/>
          </a:xfrm>
          <a:prstGeom prst="rect">
            <a:avLst/>
          </a:prstGeom>
          <a:solidFill>
            <a:srgbClr val="2E75B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842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H22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075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-&gt; Vs 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926080"/>
            <a:ext cx="1371600" cy="594360"/>
          </a:xfrm>
          <a:prstGeom prst="rect">
            <a:avLst/>
          </a:prstGeom>
          <a:solidFill>
            <a:srgbClr val="C0550A"/>
          </a:solidFill>
          <a:ln w="19050">
            <a:solidFill>
              <a:srgbClr val="8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900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K_PPF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595959"/>
                </a:solidFill>
              </a:rPr>
              <a:t>(feedback: positive 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605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F4E79"/>
                </a:solidFill>
              </a:rPr>
              <a:t>[d_dis] -&gt; (+) -&gt; H22 -&gt; [Vs] -&gt;
             ^                |
             |   K_PPF  &lt;----|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120640"/>
            <a:ext cx="4937760" cy="100584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5212080"/>
            <a:ext cx="47183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Stability: phase of H22 bounded in (-180 deg, 0 deg).
PPF filter adds (-180 deg, 0 deg). Sum never encircles -1. -&gt; Unconditionally stable.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PPF predicts 22.6 dB suppression at f1 = 214 Hz with g = 0.3 -- matching Baken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PPF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8/18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800">
                <a:solidFill>
                  <a:srgbClr val="262626"/>
                </a:solidFill>
              </a:rPr>
              <a:t>Closed-loop tip displacement (MIMO formula):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T11 = H11 - H12 * [K_PPF / (1 - H22*K_PPF)] * H21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MATLAB implementation: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T = feedback(HOLc, K_ppf, 2, 2, +1)  (positive feedback, channel 2)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Tuning: g = 0.3,  zeta_f = 0.3  (Baken 2025 values)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Predicted suppression at f1 = 214 Hz: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Delta_H22  = -22.6 dB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Baken 2025 result: -22.8 dB  (sandwich beam, same g/zeta_f)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Discretisation: Tustin method, fs = 10 kHz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Kd = c2d(K_ppf, 1e-4, tustin)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280160"/>
            <a:ext cx="50292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325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F4E79"/>
                </a:solidFill>
              </a:rPr>
              <a:t>Comparison: this project vs Baken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737360"/>
            <a:ext cx="50292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013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013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This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013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Baken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94560"/>
            <a:ext cx="5029200" cy="457200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585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585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Al plate 1x1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258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Sandwich beam 0.4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7157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Eigenfreq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157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214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7157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29.5 Hz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108960"/>
            <a:ext cx="5029200" cy="457200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1729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PPF gain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729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1729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0.3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5661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6301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PPF damp. zf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6301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0.3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301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23360"/>
            <a:ext cx="5029200" cy="457200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873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Suppression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873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-22.6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0873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-22.8 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4805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45445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H22 at DC (H0)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5445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~0.22 V/V (est.)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544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read from FRD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000">
                <a:solidFill>
                  <a:srgbClr val="FFFFFF"/>
                </a:solidFill>
              </a:rPr>
              <a:t>Part II
Direct Velocity Feedback
with MEMS Accelerometer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COMSOL's solid.accZ uses +omega^2 (not -omega^2), shifting the phase 180 deg vs a real accelerometer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Phase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10/18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900">
                <a:solidFill>
                  <a:srgbClr val="262626"/>
                </a:solidFill>
              </a:rPr>
              <a:t>Physical acceleration: a = (j*omega)^2 * x = -omega^2 * x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  Phase = +180 deg relative to displacement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COMSOL (solid.accZ): derived from inertia term (+omega^2 * M * U)</a:t>
            </a:r>
          </a:p>
          <a:p>
            <a:pPr lvl="1"/>
            <a:r>
              <a:rPr b="0" i="0" sz="1900">
                <a:solidFill>
                  <a:srgbClr val="262626"/>
                </a:solidFill>
              </a:rPr>
              <a:t>  solid.accZ = +omega^2 * w  = -a_physical</a:t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900">
                <a:solidFill>
                  <a:srgbClr val="262626"/>
                </a:solidFill>
              </a:rPr>
              <a:t>Consequence: 180 deg phase offset vs Falangas 1994 and all papers using real accelerometers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480560"/>
            <a:ext cx="11185855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4456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Freq.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54456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solid.accZ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54456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Physical accel. 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92040"/>
            <a:ext cx="11185855" cy="411480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95604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Below resonance (DC)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95604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0 deg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95604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+180 deg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03520"/>
            <a:ext cx="11185855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6752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At resonance w1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36752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-90 deg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36752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-270 deg (+90 deg)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85855" cy="411480"/>
          </a:xfrm>
          <a:prstGeom prst="rect">
            <a:avLst/>
          </a:prstGeom>
          <a:solidFill>
            <a:srgbClr val="E2EFF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7790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Above resonance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7790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-180 deg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77900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-360 deg (0 deg)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72200"/>
            <a:ext cx="11185855" cy="59436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263640"/>
            <a:ext cx="109663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Confirmed from H22_accel.txt data: at 1 Hz, H22 is positive real (0 deg) -- COMSOL convention. Resonance at ~157 Hz, phase crosses -90 deg there.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PPF and IRC both fail with an acceleration sensor; DVF is conditionally stable and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Controller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11/18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5855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52728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52728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Stability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52728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H22 phase at resonance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252728"/>
            <a:ext cx="3886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11185855" cy="1005840"/>
          </a:xfrm>
          <a:prstGeom prst="rect">
            <a:avLst/>
          </a:prstGeom>
          <a:solidFill>
            <a:srgbClr val="FFE6E6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73352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PPF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7335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Angle H22 in (-90, +90) deg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7335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-90 deg -- on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73352"/>
            <a:ext cx="3858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62626"/>
                </a:solidFill>
              </a:rPr>
              <a:t>REJECTED: unsafe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11185855" cy="1005840"/>
          </a:xfrm>
          <a:prstGeom prst="rect">
            <a:avLst/>
          </a:prstGeom>
          <a:solidFill>
            <a:srgbClr val="FFE6E6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79192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IRC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7919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Im[H22] &lt;= 0 for all w
(Negative Imaginary)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7919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NI holds only for disp./
strain sensors, not accel.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79192"/>
            <a:ext cx="3858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62626"/>
                </a:solidFill>
              </a:rPr>
              <a:t>REJECTED: proof invalid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11185855" cy="1005840"/>
          </a:xfrm>
          <a:prstGeom prst="rect">
            <a:avLst/>
          </a:prstGeom>
          <a:solidFill>
            <a:srgbClr val="E2F0D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85032"/>
            <a:ext cx="1572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DVF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8503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Nyquist: g*H22_vel does
not encircle 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685032"/>
            <a:ext cx="28529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262626"/>
                </a:solidFill>
              </a:rPr>
              <a:t>H22_vel real and positive
at resonance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85032"/>
            <a:ext cx="3858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62626"/>
                </a:solidFill>
              </a:rPr>
              <a:t>SELECTED: conditionally stable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63440"/>
            <a:ext cx="11185855" cy="82296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754880"/>
            <a:ext cx="1096639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DVF conditional stability (Gatti 2007): patch actuator applies a distributed bending moment, not a point force -- Balas (1979) unconditional stability does NOT apply. Maximum stable gain g_max must be found from the Nyquist plot.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DVF uses +g sign (not -g) with solid.accZ data -- the literature sign assumes physical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DVF Sign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800">
                <a:solidFill>
                  <a:srgbClr val="262626"/>
                </a:solidFill>
              </a:rPr>
              <a:t>DVF controller (Falangas 1994 formulation):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  K_DVF(s) = +g * S / (s + S),   S = 5 rad/s  (~0.8 Hz cutoff)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  Feedback: NEGATIVE (summing junction carries minus sign)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Why +g (not -g from paper):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Falangas writes K = -g*S/(s+S) assuming a = -omega^2 * x  (physical)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solid.accZ uses a = +omega^2 * x  (COMSOL convention)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Feeding solid.accZ into -g flips damping -&gt; anti-damping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-&gt; use +g to restore genuine velocity damping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Symptom of wrong sign: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Suppression dB is POSITIVE and grows with gain (amplification, not suppression)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Nyquist gain margin lands exactly on f1  (should be a different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1F4E79"/>
                </a:solidFill>
              </a:rPr>
              <a:t>DVF block diagram:</a:t>
            </a:r>
          </a:p>
        </p:txBody>
      </p:sp>
      <p:sp>
        <p:nvSpPr>
          <p:cNvPr id="10" name="Oval 9"/>
          <p:cNvSpPr/>
          <p:nvPr/>
        </p:nvSpPr>
        <p:spPr>
          <a:xfrm>
            <a:off x="7498080" y="18745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9202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262626"/>
                </a:solidFill>
              </a:rPr>
              <a:t>+
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8424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d_dis 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842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1371600" cy="594360"/>
          </a:xfrm>
          <a:prstGeom prst="rect">
            <a:avLst/>
          </a:prstGeom>
          <a:solidFill>
            <a:srgbClr val="2E75B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9280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H22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1984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-&gt; a_imu 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834640"/>
            <a:ext cx="1371600" cy="594360"/>
          </a:xfrm>
          <a:prstGeom prst="rect">
            <a:avLst/>
          </a:prstGeom>
          <a:solidFill>
            <a:srgbClr val="C0550A"/>
          </a:solidFill>
          <a:ln w="19050">
            <a:solidFill>
              <a:srgbClr val="8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898648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+g*S/(s+S)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F4E79"/>
                </a:solidFill>
              </a:rPr>
              <a:t>[d_dis] -&gt; (+/-) -&gt; H22 -&gt; [a_imu] -&gt;
               ^                   |
               |   +g*S/(s+S)  &lt;---|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754880"/>
            <a:ext cx="4572000" cy="100584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4846320"/>
            <a:ext cx="43525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Numerics: at resonance H22*K = (-jM)(j*gL) = +MgL &gt; 0
Denominator = 1 + MgL &gt; 1  -&gt;  T21 = H21/(1+MgL) &lt; H21  -&gt; genuine suppression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Only Domain Spring Foundation is consistent between Study 1 (Va) and Study 2 (base) for a correct MIMO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Boundary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13/18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5855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52728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</a:rPr>
              <a:t>BC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52728"/>
            <a:ext cx="2240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</a:rPr>
              <a:t>Study 1 (H22, H12)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252728"/>
            <a:ext cx="2880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</a:rPr>
              <a:t>Study 2 (H11, H21)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252728"/>
            <a:ext cx="2697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64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Fixed Constraint
(4 bottom edges)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664208"/>
            <a:ext cx="2212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Works: f1 ~214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664208"/>
            <a:ext cx="2852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Over-constrains plate:
f1 jumps to ~6500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664208"/>
            <a:ext cx="2670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Phase I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14600"/>
            <a:ext cx="11185855" cy="914400"/>
          </a:xfrm>
          <a:prstGeom prst="rect">
            <a:avLst/>
          </a:prstGeom>
          <a:solidFill>
            <a:srgbClr val="FFE6E6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786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Boundary Spring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578608"/>
            <a:ext cx="2212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78608"/>
            <a:ext cx="2852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FAILS: contradicts
Base Excitation node
-&gt; flat H11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78608"/>
            <a:ext cx="2670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REJECTED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11185855" cy="914400"/>
          </a:xfrm>
          <a:prstGeom prst="rect">
            <a:avLst/>
          </a:prstGeom>
          <a:solidFill>
            <a:srgbClr val="FFE6E6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930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Rigid Motion Suppression (RMS)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493008"/>
            <a:ext cx="2212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493008"/>
            <a:ext cx="2852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Different eigenmodes
than Study 1 -&gt;
inconsistent MIMO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93008"/>
            <a:ext cx="2670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REJECTED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43400"/>
            <a:ext cx="11185855" cy="914400"/>
          </a:xfrm>
          <a:prstGeom prst="rect">
            <a:avLst/>
          </a:prstGeom>
          <a:solidFill>
            <a:srgbClr val="E2F0D9"/>
          </a:solidFill>
          <a:ln w="635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074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Domain Spring Foundation
+ Base Excitation 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407408"/>
            <a:ext cx="2212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Works: 6 spring modes
at ~1.7 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407408"/>
            <a:ext cx="2852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Correct: H21 ~ 1 at DC,
resonances at correct freq.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407408"/>
            <a:ext cx="2670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262626"/>
                </a:solidFill>
              </a:rPr>
              <a:t>SELECTED: Phase 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DVF predicts 10-15 dB suppression at 161 Hz, consistent with Falangas 1994's 10.5 dB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DVF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800">
                <a:solidFill>
                  <a:srgbClr val="262626"/>
                </a:solidFill>
              </a:rPr>
              <a:t>Closed-loop transmissibility (primary metric: IMU corner):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T21 = H21 / (1 + H22 * K_DVF)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Controller: K_DVF = +g * 5/(s+5),  g = 0.30 * g_max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g_max from Nyquist: g_max = 1 / max(-Re[H22 * S/(jw+S)])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Operating gain: g = 30% of g_max  (10 dB stability margin)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Predicted suppression: Delta_T21 ~ -10 to -15 dB at f1 = 161 Hz</a:t>
            </a:r>
          </a:p>
          <a:p>
            <a:pPr/>
            <a:r>
              <a:rPr b="1" i="0" sz="1800">
                <a:solidFill>
                  <a:srgbClr val="262626"/>
                </a:solidFill>
              </a:rPr>
              <a:t>Falangas 1994 benchmark: -10.5 dB  (rate feedback on flat plate + PZT)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Gain sweep at 10%, 20%, 30%, 50%, 70%, 80% of g_max: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Available in dvf_main.m (Figure 5 output)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Actuator voltage check: Va_peak = g * K_norm * H21(f1) * a_rms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Limit: 400 V (P-876.A12 max).  Both stability and voltage limit checked.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5029200" cy="1371600"/>
          </a:xfrm>
          <a:prstGeom prst="rect">
            <a:avLst/>
          </a:prstGeom>
          <a:solidFill>
            <a:srgbClr val="E2EFF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463040"/>
            <a:ext cx="480974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700">
                <a:solidFill>
                  <a:srgbClr val="1F4E79"/>
                </a:solidFill>
              </a:rPr>
              <a:t>Reference figure to compare: Falangas 1994, Figure 7 -- closed-loop transmissibility
of flat aluminium plate with PZT patches and rate feedback. Target: indent at f1 ~10 dB deep.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600">
                <a:solidFill>
                  <a:srgbClr val="262626"/>
                </a:solidFill>
              </a:rPr>
              <a:t>Not yet available (needs COMSOL re-export):</a:t>
            </a:r>
          </a:p>
          <a:p>
            <a:pPr lvl="1"/>
            <a:r>
              <a:rPr b="0" i="0" sz="1600">
                <a:solidFill>
                  <a:srgbClr val="262626"/>
                </a:solidFill>
              </a:rPr>
              <a:t>T11 = H11 + H12 * K / (1 + H22*K) * H21  (tip transmissibility)</a:t>
            </a:r>
          </a:p>
          <a:p>
            <a:pPr lvl="2"/>
            <a:r>
              <a:rPr b="0" i="0" sz="1600">
                <a:solidFill>
                  <a:srgbClr val="262626"/>
                </a:solidFill>
              </a:rPr>
              <a:t>  -&gt; Re-export H11 and H12 at IMU corner from Study 2 / Study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Conclusions: DVF with correct sign is the viable controller; H11/H12 re-export completes the MIMO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13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200">
                <a:solidFill>
                  <a:srgbClr val="BFD4ED"/>
                </a:solidFill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15/18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i="0" sz="1800">
                <a:solidFill>
                  <a:srgbClr val="262626"/>
                </a:solidFill>
              </a:rPr>
              <a:t>Phase I -- PPF with dual DuraAct patches: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Unconditionally stable due to collocated piezo phase bound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-22.6 dB predicted suppression at 214 Hz (matches Baken 2025: -22.8 dB)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Phase II -- DVF with MEMS accelerometer: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PPF and IRC both inapplicable with acceleration sensor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DVF with +g (not -g) restores genuine velocity damping with solid.accZ data</a:t>
            </a:r>
          </a:p>
          <a:p>
            <a:pPr lvl="1"/>
            <a:r>
              <a:rPr b="1" i="0" sz="1800">
                <a:solidFill>
                  <a:srgbClr val="262626"/>
                </a:solidFill>
              </a:rPr>
              <a:t>-10 to -15 dB suppression predicted at 161 Hz (target mode)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Critical model decisions: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Domain Spring Foundation: only BC consistent between Study 1 and Study 2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161 Hz is the reliable DVF target; 87 Hz has feedthrough-distorted phase</a:t>
            </a:r>
          </a:p>
          <a:p>
            <a:pPr lvl="1"/>
            <a:r>
              <a:rPr b="0" i="0" sz="1800">
                <a:solidFill>
                  <a:srgbClr val="262626"/>
                </a:solidFill>
              </a:rPr>
              <a:t>PIC255 d31 and epsR must be overridden from COMSOL defaults</a:t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/>
            </a:r>
          </a:p>
          <a:p>
            <a:pPr/>
            <a:r>
              <a:rPr b="0" i="0" sz="1800">
                <a:solidFill>
                  <a:srgbClr val="262626"/>
                </a:solidFill>
              </a:rPr>
              <a:t>Remaining work: re-export H11 and H12 at IMU corner to complete T11 calculation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95959"/>
                </a:solidFill>
              </a:rPr>
              <a:t>Isaak Bouwmeester | ASML Internship |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595959"/>
                </a:solidFill>
              </a:rPr>
              <a:t>16/18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[1] E.T. Falangas, J.A. Dworak, S. Koshigoe, "Controlling plate vibrations using PZT actuators," IEEE Control Syst. Mag., 14(4):34-41, 1994.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[2] G. Gatti, M.J. Brennan, P. Gardonio, "Active damping of a beam using a collocated accelerometer and PZT patch," J. Sound Vib., 303:798-813, 2007.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[3] S.S. Aphale, A.J. Fleming, S.O.R. Moheimani, "Integral resonant control of collocated smart structures," Smart Mater. Struct., 16(2):439-446, 2007.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[4] M.J. Balas, "Direct velocity feedback control of large space structures," J. Guidance Control, 2(3):252-253, 1979.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[5] C.J. Goh and T.K. Caughey, "On the stability problem caused by finite actuator dynamics," Int. J. Control, 41(3):787-802, 1985.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8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262626"/>
                </a:solidFill>
              </a:rPr>
              <a:t>[6] M. Baken, V. Gupta, B. Jansen, S.H. HosseinNia, "Harnessing PZT shear actuators for vibration control in sandwich beams," arXiv:2506.21713v1,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